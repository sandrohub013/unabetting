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 Machine Learning Framework for Tennis Match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834640"/>
            <a:ext cx="2103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5A5A6"/>
                </a:solidFill>
                <a:latin typeface="Calibri"/>
              </a:defRPr>
            </a:pPr>
            <a:r>
              <a:t>Multi-Market Outcome Modeling with Ensemble Methods and Value Betting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5A5A6"/>
                </a:solidFill>
                <a:latin typeface="Calibri"/>
              </a:defRPr>
            </a:pPr>
            <a:r>
              <a:t>Data Sources: JeffSackmann/tennis_atp  |  tennis-data.co.uk  |  TheOddsAPI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5A5A6"/>
                </a:solidFill>
                <a:latin typeface="Calibri"/>
              </a:defRPr>
            </a:pPr>
            <a:r>
              <a:t>Models: Logistic Regression  |  Random Forest  |  XGBoost  |  LightGBM  |  Neural Network  |  Ensemble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Calibri"/>
              </a:defRPr>
            </a:pPr>
            <a:r>
              <a:t>CONFIDENTIAL  |  Research Document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Calibri"/>
              </a:defRPr>
            </a:pPr>
            <a:r>
              <a:t>Tennis Match Prediction System  |  Academic Research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2/12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Research Motivation &amp; 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80B9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  <a:latin typeface="Calibri"/>
              </a:rPr>
              <a:t>▪  </a:t>
            </a:r>
            <a:r>
              <a:rPr sz="1300">
                <a:solidFill>
                  <a:srgbClr val="FFFFFF"/>
                </a:solidFill>
                <a:latin typeface="Calibri"/>
              </a:rPr>
              <a:t>Sports betting markets exhibit systematic inefficiencies exploitable via statistical modeling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  <a:latin typeface="Calibri"/>
              </a:rPr>
              <a:t>▪  </a:t>
            </a:r>
            <a:r>
              <a:rPr sz="1300">
                <a:solidFill>
                  <a:srgbClr val="FFFFFF"/>
                </a:solidFill>
                <a:latin typeface="Calibri"/>
              </a:rPr>
              <a:t>Tennis is ideal for ML: individual sport, no team dynamics, rich historical data since 1968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  <a:latin typeface="Calibri"/>
              </a:rPr>
              <a:t>▪  </a:t>
            </a:r>
            <a:r>
              <a:rPr sz="1300">
                <a:solidFill>
                  <a:srgbClr val="FFFFFF"/>
                </a:solidFill>
                <a:latin typeface="Calibri"/>
              </a:rPr>
              <a:t>Bookmaker odds contain valuable information but embed overround (vig) — model acts as error-corrector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  <a:latin typeface="Calibri"/>
              </a:rPr>
              <a:t>▪  </a:t>
            </a:r>
            <a:r>
              <a:rPr sz="1300">
                <a:solidFill>
                  <a:srgbClr val="FFFFFF"/>
                </a:solidFill>
                <a:latin typeface="Calibri"/>
              </a:rPr>
              <a:t>Prior work (Hvattum &amp; Arntzen, 2010; Klaassen &amp; Magnus, 2003) validates ELO + ML approach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  <a:latin typeface="Calibri"/>
              </a:rPr>
              <a:t>▪  </a:t>
            </a:r>
            <a:r>
              <a:rPr sz="1300">
                <a:solidFill>
                  <a:srgbClr val="FFFFFF"/>
                </a:solidFill>
                <a:latin typeface="Calibri"/>
              </a:rPr>
              <a:t>Gap: integrated multi-market system (H2H, spread, totals) with live inference capability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80B9"/>
                </a:solidFill>
                <a:latin typeface="Calibri"/>
              </a:defRPr>
            </a:pPr>
            <a:r>
              <a:t>Research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  <a:latin typeface="Calibri"/>
              </a:rPr>
              <a:t>▪  </a:t>
            </a:r>
            <a:r>
              <a:rPr sz="1300">
                <a:solidFill>
                  <a:srgbClr val="FFFFFF"/>
                </a:solidFill>
                <a:latin typeface="Calibri"/>
              </a:rPr>
              <a:t>Develop a predictive model achieving &gt;75% accuracy on ATP match outcomes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  <a:latin typeface="Calibri"/>
              </a:rPr>
              <a:t>▪  </a:t>
            </a:r>
            <a:r>
              <a:rPr sz="1300">
                <a:solidFill>
                  <a:srgbClr val="FFFFFF"/>
                </a:solidFill>
                <a:latin typeface="Calibri"/>
              </a:rPr>
              <a:t>Engineer 86 features across 7 categories: ELO, rolling stats, H2H, fatigue, context, totals, market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  <a:latin typeface="Calibri"/>
              </a:rPr>
              <a:t>▪  </a:t>
            </a:r>
            <a:r>
              <a:rPr sz="1300">
                <a:solidFill>
                  <a:srgbClr val="FFFFFF"/>
                </a:solidFill>
                <a:latin typeface="Calibri"/>
              </a:rPr>
              <a:t>Implement walk-forward cross-validation to prevent temporal data leakage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  <a:latin typeface="Calibri"/>
              </a:rPr>
              <a:t>▪  </a:t>
            </a:r>
            <a:r>
              <a:rPr sz="1300">
                <a:solidFill>
                  <a:srgbClr val="FFFFFF"/>
                </a:solidFill>
                <a:latin typeface="Calibri"/>
              </a:rPr>
              <a:t>Design value betting strategy using Kelly Criterion with fractional bankroll management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  <a:latin typeface="Calibri"/>
              </a:rPr>
              <a:t>▪  </a:t>
            </a:r>
            <a:r>
              <a:rPr sz="1300">
                <a:solidFill>
                  <a:srgbClr val="FFFFFF"/>
                </a:solidFill>
                <a:latin typeface="Calibri"/>
              </a:rPr>
              <a:t>Build real-time inference pipeline with live odds integration and LLM-assisted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Calibri"/>
              </a:defRPr>
            </a:pPr>
            <a:r>
              <a:t>Tennis Match Prediction System  |  Academic Research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3/12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Sources &amp; Temporal Coverage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10515600" cy="128016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54864" cy="1280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80B9"/>
                </a:solidFill>
                <a:latin typeface="Calibri"/>
              </a:defRPr>
            </a:pPr>
            <a:r>
              <a:t>JeffSackmann/tennis_atp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8745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Match results, point-by-point data, player statistics, official rankings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Calibri"/>
              </a:defRPr>
            </a:pPr>
            <a:r>
              <a:t>Coverage: 1968–2025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A5A6"/>
                </a:solidFill>
                <a:latin typeface="Calibri"/>
              </a:defRPr>
            </a:pPr>
            <a:r>
              <a:t>License: GitHub CC BY-NC-SA 4.0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926080"/>
            <a:ext cx="10515600" cy="128016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926080"/>
            <a:ext cx="54864" cy="1280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80B9"/>
                </a:solidFill>
                <a:latin typeface="Calibri"/>
              </a:defRPr>
            </a:pPr>
            <a:r>
              <a:t>tennis-data.co.uk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4290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Historical betting odds (Bet365, Interwetten, etc.) with match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063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Calibri"/>
              </a:defRPr>
            </a:pPr>
            <a:r>
              <a:t>Coverage: 2000–2026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429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A5A6"/>
                </a:solidFill>
                <a:latin typeface="Calibri"/>
              </a:defRPr>
            </a:pPr>
            <a:r>
              <a:t>License: Public CSV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480560"/>
            <a:ext cx="10515600" cy="128016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480560"/>
            <a:ext cx="54864" cy="1280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80B9"/>
                </a:solidFill>
                <a:latin typeface="Calibri"/>
              </a:defRPr>
            </a:pPr>
            <a:r>
              <a:t>TheOddsAPI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9834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Real-time odds from 15+ bookmakers across H2H, spreads, totals markets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617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Calibri"/>
              </a:defRPr>
            </a:pPr>
            <a:r>
              <a:t>Coverage: 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983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A5A6"/>
                </a:solidFill>
                <a:latin typeface="Calibri"/>
              </a:defRPr>
            </a:pPr>
            <a:r>
              <a:t>License: REST API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96188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Key Stat:  86 engineered features  |  57+ years of match data  |  3 prediction markets  |  5 ML algorithms + ensemble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Calibri"/>
              </a:defRPr>
            </a:pPr>
            <a:r>
              <a:t>Tennis Match Prediction System  |  Academic Research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4/12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Feature Engineering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2651760" cy="228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265176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80B9"/>
                </a:solidFill>
                <a:latin typeface="Calibri"/>
              </a:defRPr>
            </a:pPr>
            <a:r>
              <a:t>ELO Ratings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Global + per-surface (Hard/Clay/Grass)</a:t>
            </a:r>
            <a:br/>
            <a:r>
              <a:t>Adaptive K-factor (32/48 for Slams)</a:t>
            </a:r>
            <a:br/>
            <a:r>
              <a:t>Momentum of victory + time decay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00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39C12"/>
                </a:solidFill>
                <a:latin typeface="Calibri"/>
              </a:defRPr>
            </a:pPr>
            <a:r>
              <a:t>4 features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280160"/>
            <a:ext cx="2651760" cy="228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280160"/>
            <a:ext cx="265176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80B9"/>
                </a:solidFill>
                <a:latin typeface="Calibri"/>
              </a:defRPr>
            </a:pPr>
            <a:r>
              <a:t>Rolling Statistics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17830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Service &amp; return stats on 10/20/50-match windows</a:t>
            </a:r>
            <a:br/>
            <a:r>
              <a:t>Ace rate, hold%, break points, return pts won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200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39C12"/>
                </a:solidFill>
                <a:latin typeface="Calibri"/>
              </a:defRPr>
            </a:pPr>
            <a:r>
              <a:t>28 features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280160"/>
            <a:ext cx="2651760" cy="228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280160"/>
            <a:ext cx="265176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80B9"/>
                </a:solidFill>
                <a:latin typeface="Calibri"/>
              </a:defRPr>
            </a:pPr>
            <a:r>
              <a:t>Head-to-Head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7830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Historical H2H wins/losses</a:t>
            </a:r>
            <a:br/>
            <a:r>
              <a:t>Surface-specific H2H 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200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39C12"/>
                </a:solidFill>
                <a:latin typeface="Calibri"/>
              </a:defRPr>
            </a:pPr>
            <a:r>
              <a:t>3 features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1280160"/>
            <a:ext cx="2651760" cy="228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61120" y="1280160"/>
            <a:ext cx="265176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417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80B9"/>
                </a:solidFill>
                <a:latin typeface="Calibri"/>
              </a:defRPr>
            </a:pPr>
            <a:r>
              <a:t>Fatigue &amp; Schedule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7830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Days since last match</a:t>
            </a:r>
            <a:br/>
            <a:r>
              <a:t>Sets played in last 7 days</a:t>
            </a:r>
            <a:br/>
            <a:r>
              <a:t>Staleness cap at 21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200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39C12"/>
                </a:solidFill>
                <a:latin typeface="Calibri"/>
              </a:defRPr>
            </a:pPr>
            <a:r>
              <a:t>4 features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840480"/>
            <a:ext cx="2651760" cy="228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840480"/>
            <a:ext cx="265176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977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80B9"/>
                </a:solidFill>
                <a:latin typeface="Calibri"/>
              </a:defRPr>
            </a:pPr>
            <a:r>
              <a:t>Contextual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34340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Ranking diff/ratio, player age</a:t>
            </a:r>
            <a:br/>
            <a:r>
              <a:t>Tournament level (G/M/A/D/F)</a:t>
            </a:r>
            <a:br/>
            <a:r>
              <a:t>Court Pace Index (CPI)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760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39C12"/>
                </a:solidFill>
                <a:latin typeface="Calibri"/>
              </a:defRPr>
            </a:pPr>
            <a:r>
              <a:t>8 features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3840480"/>
            <a:ext cx="2651760" cy="228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91840" y="3840480"/>
            <a:ext cx="265176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29000" y="3977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80B9"/>
                </a:solidFill>
                <a:latin typeface="Calibri"/>
              </a:defRPr>
            </a:pPr>
            <a:r>
              <a:t>Totals Market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434340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Combined ace rate, hold%, tiebreak rate</a:t>
            </a:r>
            <a:br/>
            <a:r>
              <a:t>Deciding set %, games per set</a:t>
            </a:r>
            <a:br/>
            <a:r>
              <a:t>Average match duration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5760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39C12"/>
                </a:solidFill>
                <a:latin typeface="Calibri"/>
              </a:defRPr>
            </a:pPr>
            <a:r>
              <a:t>10 features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3840480"/>
            <a:ext cx="2651760" cy="228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6480" y="3840480"/>
            <a:ext cx="265176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3977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80B9"/>
                </a:solidFill>
                <a:latin typeface="Calibri"/>
              </a:defRPr>
            </a:pPr>
            <a:r>
              <a:t>Market Features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434340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Implied probability (overround removed)</a:t>
            </a:r>
            <a:br/>
            <a:r>
              <a:t>Normalized across bookmakers</a:t>
            </a:r>
            <a:br/>
            <a:r>
              <a:t>Z-score clipping at ±4σ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5760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39C12"/>
                </a:solidFill>
                <a:latin typeface="Calibri"/>
              </a:defRPr>
            </a:pPr>
            <a:r>
              <a:t>6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Calibri"/>
              </a:defRPr>
            </a:pPr>
            <a:r>
              <a:t>Tennis Match Prediction System  |  Academic Research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5/12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ELO Rating System — Methodology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80B9"/>
                </a:solidFill>
                <a:latin typeface="Calibri"/>
              </a:defRPr>
            </a:pPr>
            <a:r>
              <a:t>ELO Update 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Rₙ₊₁ = Rₙ + K × (S − 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Rₙ = current rating, Rₙ₊₁ = updated rating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K = adaptive K-factor: 32 (standard), 48 (Grand Slams)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S = actual score (1 = win, 0 = loss)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E = expected score = 1 / (1 + 10^((R_opponent - R_player)/400))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Surface-specific ELO: 70% surface, 30% global rating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Initial rating: 1500 for all new players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Momentum: victory margin weighted by match importance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80B9"/>
                </a:solidFill>
                <a:latin typeface="Calibri"/>
              </a:defRPr>
            </a:pPr>
            <a:r>
              <a:t>Implementation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Four parallel ELO tracks: Global, Hard, Clay, Grass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Time decay: ratings decay toward mean after inactivity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Adaptive K-factor scales with tournament prestige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Momentum of victory: straight-set wins produce larger updates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ELO diff features: primary predictors for H2H market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Validated against official ATP rankings (r &gt; 0.85)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Computationally efficient: O(1) per match update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96188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5A5A6"/>
                </a:solidFill>
                <a:latin typeface="Calibri"/>
              </a:defRPr>
            </a:pPr>
            <a:r>
              <a:t>Reference:  Elo, A. (1978). The Rating of Chessplayers, Past and Present. Arco Publishing.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Calibri"/>
              </a:defRPr>
            </a:pPr>
            <a:r>
              <a:t>Tennis Match Prediction System  |  Academic Research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6/12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Model Training &amp; Performance Results</a:t>
            </a:r>
          </a:p>
        </p:txBody>
      </p:sp>
      <p:pic>
        <p:nvPicPr>
          <p:cNvPr id="8" name="Picture 7" descr="chart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943600" cy="3291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675120" y="1188720"/>
            <a:ext cx="5029200" cy="4572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80B9"/>
                </a:solidFill>
                <a:latin typeface="Calibri"/>
              </a:defRPr>
            </a:pPr>
            <a:r>
              <a:t>Multi-Market Results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828800"/>
            <a:ext cx="1257300" cy="3657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847088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32420" y="1828800"/>
            <a:ext cx="1257300" cy="3657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32420" y="1847088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Best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1828800"/>
            <a:ext cx="1257300" cy="3657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847088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47020" y="1828800"/>
            <a:ext cx="1257300" cy="3657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47020" y="1847088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Value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2194560"/>
            <a:ext cx="1257300" cy="34747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212848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H2H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32420" y="2194560"/>
            <a:ext cx="1257300" cy="34747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32420" y="2212848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2194560"/>
            <a:ext cx="1257300" cy="34747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2212848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447020" y="2194560"/>
            <a:ext cx="1257300" cy="34747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47020" y="2212848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78.8%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542032"/>
            <a:ext cx="1257300" cy="347472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2560320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H2H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32420" y="2542032"/>
            <a:ext cx="1257300" cy="347472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32420" y="2560320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9720" y="2542032"/>
            <a:ext cx="1257300" cy="347472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720" y="2560320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ROC AUC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447020" y="2542032"/>
            <a:ext cx="1257300" cy="347472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47020" y="2560320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0.884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2889504"/>
            <a:ext cx="1257300" cy="34747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2907792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Spread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32420" y="2889504"/>
            <a:ext cx="1257300" cy="34747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32420" y="2907792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2889504"/>
            <a:ext cx="1257300" cy="34747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9720" y="2907792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MAE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447020" y="2889504"/>
            <a:ext cx="1257300" cy="34747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47020" y="2907792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3.30 games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3236976"/>
            <a:ext cx="1257300" cy="347472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3255264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Spread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32420" y="3236976"/>
            <a:ext cx="1257300" cy="347472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32420" y="3255264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89720" y="3236976"/>
            <a:ext cx="1257300" cy="347472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89720" y="3255264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R²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447020" y="3236976"/>
            <a:ext cx="1257300" cy="347472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47020" y="3255264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0.40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75120" y="3584448"/>
            <a:ext cx="1257300" cy="34747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5120" y="3602736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Totals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32420" y="3584448"/>
            <a:ext cx="1257300" cy="34747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32420" y="3602736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Ensemble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89720" y="3584448"/>
            <a:ext cx="1257300" cy="34747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89720" y="3602736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MAE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47020" y="3584448"/>
            <a:ext cx="1257300" cy="34747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447020" y="3602736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5.37 games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75120" y="3931920"/>
            <a:ext cx="1257300" cy="347472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3950208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Totals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32420" y="3931920"/>
            <a:ext cx="1257300" cy="347472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32420" y="3950208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Ensemble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89720" y="3931920"/>
            <a:ext cx="1257300" cy="347472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89720" y="3950208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R²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447020" y="3931920"/>
            <a:ext cx="1257300" cy="347472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447020" y="3950208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0.37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4754880"/>
            <a:ext cx="11247120" cy="41148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" y="4773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Key Finding: XGBoost achieves best H2H accuracy (78.8%). Ensemble performs best on Totals. All models use temporal split (train: pre-2025, test: 2025+).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5349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2980B9"/>
                </a:solidFill>
                <a:latin typeface="Calibri"/>
              </a:rPr>
              <a:t>▪  </a:t>
            </a:r>
            <a:r>
              <a:rPr sz="1100">
                <a:solidFill>
                  <a:srgbClr val="FFFFFF"/>
                </a:solidFill>
                <a:latin typeface="Calibri"/>
              </a:rPr>
              <a:t>XGBoost: 500 estimators, max_depth=6, lr=0.05, subsample=0.8, colsample_bytree=0.8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980B9"/>
                </a:solidFill>
                <a:latin typeface="Calibri"/>
              </a:rPr>
              <a:t>▪  </a:t>
            </a:r>
            <a:r>
              <a:rPr sz="1100">
                <a:solidFill>
                  <a:srgbClr val="FFFFFF"/>
                </a:solidFill>
                <a:latin typeface="Calibri"/>
              </a:rPr>
              <a:t>LightGBM: 500 estimators, num_leaves=31, lr=0.05, subsample=0.8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980B9"/>
                </a:solidFill>
                <a:latin typeface="Calibri"/>
              </a:rPr>
              <a:t>▪  </a:t>
            </a:r>
            <a:r>
              <a:rPr sz="1100">
                <a:solidFill>
                  <a:srgbClr val="FFFFFF"/>
                </a:solidFill>
                <a:latin typeface="Calibri"/>
              </a:rPr>
              <a:t>Neural Network: [128, 64, 32] hidden layers, dropout=0.3, 100 epochs, batch_size=64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Calibri"/>
              </a:defRPr>
            </a:pPr>
            <a:r>
              <a:t>Tennis Match Prediction System  |  Academic Research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7/12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Discrimination Performance — ROC Analysis</a:t>
            </a:r>
          </a:p>
        </p:txBody>
      </p:sp>
      <p:pic>
        <p:nvPicPr>
          <p:cNvPr id="8" name="Picture 7" descr="chart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188720"/>
            <a:ext cx="4572000" cy="39319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0" y="1371600"/>
            <a:ext cx="4389120" cy="4572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417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80B9"/>
                </a:solidFill>
                <a:latin typeface="Calibri"/>
              </a:defRPr>
            </a:pPr>
            <a: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0116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AUC = 0.884 indicates strong discriminatory power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Model correctly ranks winner higher than loser in 88.4% of random pairs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Substantially above random baseline (AUC = 0.500)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Competitive with published literature (0.85–0.90 range)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Steep initial rise: high sensitivity at low FPR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Consistent performance across all surfaces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Calibration: predicted probabilities align with observed frequencies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Calibri"/>
              </a:defRPr>
            </a:pPr>
            <a:r>
              <a:t>Tennis Match Prediction System  |  Academic Research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8/12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Walk-Forward Cross Validation (2020–2024)</a:t>
            </a:r>
          </a:p>
        </p:txBody>
      </p:sp>
      <p:pic>
        <p:nvPicPr>
          <p:cNvPr id="8" name="Picture 7" descr="chart_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3657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72400" y="1371600"/>
            <a:ext cx="3931920" cy="4572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80B9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0116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5-fold walk-forward: each fold trains on all prior years, tests on next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Prevents temporal leakage: no future data in training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Mean accuracy: 78.0% (±0.5% std)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Stability confirms model generalizes across years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No significant performance drift detected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Validates robustness to changing player pool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Superior to random split for time-series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Calibri"/>
              </a:defRPr>
            </a:pPr>
            <a:r>
              <a:t>Tennis Match Prediction System  |  Academic Research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9/12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Feature Importance Analysis — XGBoost Gain</a:t>
            </a:r>
          </a:p>
        </p:txBody>
      </p:sp>
      <p:pic>
        <p:nvPicPr>
          <p:cNvPr id="8" name="Picture 7" descr="chart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4572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72400" y="1371600"/>
            <a:ext cx="3931920" cy="4572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80B9"/>
                </a:solidFill>
                <a:latin typeface="Calibri"/>
              </a:defRPr>
            </a:pPr>
            <a:r>
              <a:t>Key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0116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Market implied prob dominates (28.5%): confirms efficient market hypothesis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ELO features combined = 27%: player strength is primary signal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Performance stats (ace/hold rate) = 13.2%: form matters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Contextual features (ranking, tournament level, CPI) = 8.2%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Fatigue features contribute meaningfully (4.2%)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H2H has modest but non-zero impact (2.7%)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Model acts as refinement on market odds, not replacement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Calibri"/>
              </a:defRPr>
            </a:pPr>
            <a:r>
              <a:t>Tennis Match Prediction System  |  Academic Research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10/12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Backtest Performance — Betting Strategy Analysis</a:t>
            </a:r>
          </a:p>
        </p:txBody>
      </p:sp>
      <p:pic>
        <p:nvPicPr>
          <p:cNvPr id="8" name="Picture 7" descr="chart_back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943600" cy="3291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675120" y="1188720"/>
            <a:ext cx="5029200" cy="4572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80B9"/>
                </a:solidFill>
                <a:latin typeface="Calibri"/>
              </a:defRPr>
            </a:pPr>
            <a:r>
              <a:t>Detailed Results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828800"/>
            <a:ext cx="1257300" cy="3657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847088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32420" y="1828800"/>
            <a:ext cx="1257300" cy="3657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32420" y="1847088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Value (Kelly)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1828800"/>
            <a:ext cx="1257300" cy="3657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847088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Blind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47020" y="1828800"/>
            <a:ext cx="1257300" cy="3657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47020" y="1847088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Thresh 0.8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2194560"/>
            <a:ext cx="1257300" cy="34747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212848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Bets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32420" y="2194560"/>
            <a:ext cx="1257300" cy="34747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32420" y="2212848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564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2194560"/>
            <a:ext cx="1257300" cy="34747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2212848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972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447020" y="2194560"/>
            <a:ext cx="1257300" cy="34747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47020" y="2212848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462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542032"/>
            <a:ext cx="1257300" cy="347472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2560320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32420" y="2542032"/>
            <a:ext cx="1257300" cy="347472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32420" y="2560320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77.3%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9720" y="2542032"/>
            <a:ext cx="1257300" cy="347472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720" y="2560320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80.8%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447020" y="2542032"/>
            <a:ext cx="1257300" cy="347472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47020" y="2560320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95.9%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2889504"/>
            <a:ext cx="1257300" cy="34747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2907792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ROI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32420" y="2889504"/>
            <a:ext cx="1257300" cy="34747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32420" y="2907792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+56.2%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2889504"/>
            <a:ext cx="1257300" cy="34747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9720" y="2907792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+31.0%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447020" y="2889504"/>
            <a:ext cx="1257300" cy="34747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47020" y="2907792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+49.8%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3236976"/>
            <a:ext cx="1257300" cy="347472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3255264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32420" y="3236976"/>
            <a:ext cx="1257300" cy="347472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32420" y="3255264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-17.2%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89720" y="3236976"/>
            <a:ext cx="1257300" cy="347472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89720" y="3255264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-7.4%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447020" y="3236976"/>
            <a:ext cx="1257300" cy="347472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47020" y="3255264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-2.8%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75120" y="3584448"/>
            <a:ext cx="1257300" cy="34747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5120" y="3602736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Avg Stake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32420" y="3584448"/>
            <a:ext cx="1257300" cy="34747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32420" y="3602736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€25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89720" y="3584448"/>
            <a:ext cx="1257300" cy="34747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89720" y="3602736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€10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47020" y="3584448"/>
            <a:ext cx="1257300" cy="34747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447020" y="3602736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€30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75120" y="3931920"/>
            <a:ext cx="1257300" cy="347472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3950208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Sharpe Ratio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32420" y="3931920"/>
            <a:ext cx="1257300" cy="347472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32420" y="3950208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1.82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89720" y="3931920"/>
            <a:ext cx="1257300" cy="347472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89720" y="3950208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2.15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447020" y="3931920"/>
            <a:ext cx="1257300" cy="347472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447020" y="3950208"/>
            <a:ext cx="1257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3.41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4754880"/>
            <a:ext cx="11247120" cy="164592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" y="48006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Calibri"/>
              </a:defRPr>
            </a:pPr>
            <a:r>
              <a:t>Strategy Descriptions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516636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2980B9"/>
                </a:solidFill>
                <a:latin typeface="Calibri"/>
              </a:rPr>
              <a:t>▪  </a:t>
            </a:r>
            <a:r>
              <a:rPr sz="1100">
                <a:solidFill>
                  <a:srgbClr val="FFFFFF"/>
                </a:solidFill>
                <a:latin typeface="Calibri"/>
              </a:rPr>
              <a:t>Value (Kelly): Bets only when model edge &gt; 3%. Stake sized by fractional Kelly (25%). Maximizes long-term growth rate.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980B9"/>
                </a:solidFill>
                <a:latin typeface="Calibri"/>
              </a:rPr>
              <a:t>▪  </a:t>
            </a:r>
            <a:r>
              <a:rPr sz="1100">
                <a:solidFill>
                  <a:srgbClr val="FFFFFF"/>
                </a:solidFill>
                <a:latin typeface="Calibri"/>
              </a:rPr>
              <a:t>Blind (flat): Bets on all model predictions with flat stake. Tests raw predictive power without value filtering.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980B9"/>
                </a:solidFill>
                <a:latin typeface="Calibri"/>
              </a:rPr>
              <a:t>▪  </a:t>
            </a:r>
            <a:r>
              <a:rPr sz="1100">
                <a:solidFill>
                  <a:srgbClr val="FFFFFF"/>
                </a:solidFill>
                <a:latin typeface="Calibri"/>
              </a:rPr>
              <a:t>Threshold 0.8: Only bets when model confidence &gt; 80%. Highest win rate (95.9%) but fewer opportunities (462 bets).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Calibri"/>
              </a:defRPr>
            </a:pPr>
            <a:r>
              <a:t>Tennis Match Prediction System  |  Academic Research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11/12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Cumulative Bankroll Growth — Kelly Criterion</a:t>
            </a:r>
          </a:p>
        </p:txBody>
      </p:sp>
      <p:pic>
        <p:nvPicPr>
          <p:cNvPr id="8" name="Picture 7" descr="chart_bankro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0" y="1371600"/>
            <a:ext cx="3474720" cy="4572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80B9"/>
                </a:solidFill>
                <a:latin typeface="Calibri"/>
              </a:defRPr>
            </a:pPr>
            <a:r>
              <a:t>Risk Metrics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011680"/>
            <a:ext cx="3474720" cy="34747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029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Calibri"/>
              </a:defRPr>
            </a:pPr>
            <a:r>
              <a:t>Initial Bankroll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20299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7AE60"/>
                </a:solidFill>
                <a:latin typeface="Calibri"/>
              </a:defRPr>
            </a:pPr>
            <a:r>
              <a:t>€1,000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377440"/>
            <a:ext cx="3474720" cy="347472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3957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Calibri"/>
              </a:defRPr>
            </a:pPr>
            <a:r>
              <a:t>Final Bankroll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23957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7AE60"/>
                </a:solidFill>
                <a:latin typeface="Calibri"/>
              </a:defRPr>
            </a:pPr>
            <a:r>
              <a:t>€1,562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743200"/>
            <a:ext cx="3474720" cy="34747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7614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27614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7AE60"/>
                </a:solidFill>
                <a:latin typeface="Calibri"/>
              </a:defRPr>
            </a:pPr>
            <a:r>
              <a:t>+56.2%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108960"/>
            <a:ext cx="3474720" cy="347472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127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31272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-17.2%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474720"/>
            <a:ext cx="3474720" cy="34747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34930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Calibri"/>
              </a:defRPr>
            </a:pPr>
            <a:r>
              <a:t>Calmar Ratio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34930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3.27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840480"/>
            <a:ext cx="3474720" cy="347472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858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Calibri"/>
              </a:defRPr>
            </a:pPr>
            <a:r>
              <a:t>Profit Factor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38587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2.14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4206240"/>
            <a:ext cx="3474720" cy="34747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4224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Calibri"/>
              </a:defRPr>
            </a:pPr>
            <a:r>
              <a:t>Avg Win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42245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7AE60"/>
                </a:solidFill>
                <a:latin typeface="Calibri"/>
              </a:defRPr>
            </a:pPr>
            <a:r>
              <a:t>€18.50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4572000"/>
            <a:ext cx="3474720" cy="347472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45902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Calibri"/>
              </a:defRPr>
            </a:pPr>
            <a:r>
              <a:t>Avg Loss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45902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-€12.30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4937760"/>
            <a:ext cx="3474720" cy="34747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49560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Calibri"/>
              </a:defRPr>
            </a:pPr>
            <a:r>
              <a:t>Consecutive Wins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4956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5303520"/>
            <a:ext cx="3474720" cy="347472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53218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Calibri"/>
              </a:defRPr>
            </a:pPr>
            <a:r>
              <a:t>Consecutive Losses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53218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Calibri"/>
              </a:defRPr>
            </a:pPr>
            <a:r>
              <a:t>Tennis Match Prediction System  |  Academic Research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12/12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Conclusions &amp; Future Research Directions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Conclusions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XGBoost achieves 78.8% accuracy on ATP H2H prediction, exceeding the 75% target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Walk-forward CV confirms temporal stability (78.0% ±0.5% over 5 years)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Kelly Criterion strategy yields +56.2% ROI with manageable drawdown (-17.2%)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Market odds are the strongest single predictor — model refines, not replaces, market efficiency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Multi-market architecture (H2H, spread, totals) provides diversified betting opportunities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Live inference pipeline enables real-time decision making with LLM-assisted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Future 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Incorporate point-by-point data for in-play prediction models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Add player tracking data (serve speed, movement) from Charting Project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Explore deep learning architectures (LSTM, Transformer) for sequential patterns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Extend to WTA tour — different dynamics may require separate models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Implement Bayesian model averaging for uncertainty quantification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Study market efficiency across different bookmakers and liquidity levels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Develop injury prediction model using match load and scheduling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96188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The system demonstrates that ML-enhanced market analysis can identify persistent value in tennis betting markets.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